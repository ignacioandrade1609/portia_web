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g3Fx8ZOuKawQ8BOc/+TCL31HEE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9" name="Google Shape;40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8" name="Google Shape;45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4937760"/>
            <a:ext cx="12188952" cy="1920240"/>
          </a:xfrm>
          <a:prstGeom prst="rect">
            <a:avLst/>
          </a:prstGeom>
          <a:solidFill>
            <a:srgbClr val="065A82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0" y="5394960"/>
            <a:ext cx="12189000" cy="1463100"/>
          </a:xfrm>
          <a:prstGeom prst="rect">
            <a:avLst/>
          </a:prstGeom>
          <a:solidFill>
            <a:srgbClr val="1C7293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C6D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FC6DE"/>
                </a:solidFill>
                <a:latin typeface="Calibri"/>
                <a:ea typeface="Calibri"/>
                <a:cs typeface="Calibri"/>
                <a:sym typeface="Calibri"/>
              </a:rPr>
              <a:t>CAPSTONE 003V</a:t>
            </a:r>
            <a:r>
              <a:rPr b="0" i="0" lang="en-US" sz="1300" u="none" cap="none" strike="noStrike">
                <a:solidFill>
                  <a:srgbClr val="9FC6DE"/>
                </a:solidFill>
                <a:latin typeface="Calibri"/>
                <a:ea typeface="Calibri"/>
                <a:cs typeface="Calibri"/>
                <a:sym typeface="Calibri"/>
              </a:rPr>
              <a:t>   ·   INGENIERÍA EN INFORMÁTICA   ·   DUOC UC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731520" y="2286000"/>
            <a:ext cx="9144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Cambria"/>
              <a:buNone/>
            </a:pPr>
            <a:r>
              <a:rPr b="1" i="0" lang="en-US" sz="6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PortIA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731520" y="3429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Sistema de Gestión de Contenedores y Alertas de Multas Portuarias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731520" y="41148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A8C2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7FA8C2"/>
                </a:solidFill>
                <a:latin typeface="Calibri"/>
                <a:ea typeface="Calibri"/>
                <a:cs typeface="Calibri"/>
                <a:sym typeface="Calibri"/>
              </a:rPr>
              <a:t>Informe de Presentación de Proyecto APT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Estudiantes: Ignacio Andrade</a:t>
            </a:r>
            <a:endParaRPr b="0" i="0" sz="13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	           Nicolas Soto</a:t>
            </a:r>
            <a:endParaRPr b="0" i="0" sz="13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                      Airon Saez</a:t>
            </a:r>
            <a:endParaRPr b="0" i="0" sz="13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Profesor: Felipe Antonio Krauss Benavente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01 · VISIÓN DEL PROYECTO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Descripción del proyecto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fmla="val 16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A4A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822960" y="1828800"/>
            <a:ext cx="502920" cy="502920"/>
          </a:xfrm>
          <a:prstGeom prst="roundRect">
            <a:avLst>
              <a:gd fmla="val 50909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1463040" y="1828800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Nivel de negocio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822960" y="2514600"/>
            <a:ext cx="48463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Sistema para profesionales de Comercio Exterior que </a:t>
            </a:r>
            <a:r>
              <a:rPr b="1" i="0" lang="en-US" sz="13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automatiza la lectura de documentos Bill of Lading (BL)</a:t>
            </a:r>
            <a:r>
              <a:rPr b="0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 mediante IA y los registra en una grilla centralizada.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822960" y="3703320"/>
            <a:ext cx="4846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Contrasta la información documental con los sistemas reales de navieras y terminales, revelando el estado </a:t>
            </a:r>
            <a:r>
              <a:rPr b="1" i="0" lang="en-US" sz="13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verdadero</a:t>
            </a:r>
            <a:r>
              <a:rPr b="0" i="0" lang="en-US" sz="13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 de cada contenedor.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 txBox="1"/>
          <p:nvPr/>
        </p:nvSpPr>
        <p:spPr>
          <a:xfrm>
            <a:off x="822960" y="4892040"/>
            <a:ext cx="4846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Objetivo: prevenir</a:t>
            </a:r>
            <a:r>
              <a:rPr i="1" lang="en-US" sz="1300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1" lang="en-US" sz="13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no solo reaccionar ante</a:t>
            </a:r>
            <a:r>
              <a:rPr i="1" lang="en-US" sz="1300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13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multas de Demurrage y Detention.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fmla="val 1633" name="adj"/>
            </a:avLst>
          </a:prstGeom>
          <a:solidFill>
            <a:srgbClr val="21295C"/>
          </a:solidFill>
          <a:ln>
            <a:noFill/>
          </a:ln>
          <a:effectLst>
            <a:outerShdw blurRad="101600" rotWithShape="0" algn="bl" dir="5400000" dist="38100">
              <a:srgbClr val="1B2A4A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492240" y="1828800"/>
            <a:ext cx="502920" cy="502920"/>
          </a:xfrm>
          <a:prstGeom prst="roundRect">
            <a:avLst>
              <a:gd fmla="val 50909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 txBox="1"/>
          <p:nvPr/>
        </p:nvSpPr>
        <p:spPr>
          <a:xfrm>
            <a:off x="6492240" y="18288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7132320" y="1828800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Nivel técnico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537960" y="2587752"/>
            <a:ext cx="82296" cy="82296"/>
          </a:xfrm>
          <a:prstGeom prst="ellipse">
            <a:avLst/>
          </a:prstGeom>
          <a:solidFill>
            <a:srgbClr val="5EC8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6766560" y="2468880"/>
            <a:ext cx="4663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3EEF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3EEF7"/>
                </a:solidFill>
                <a:latin typeface="Calibri"/>
                <a:ea typeface="Calibri"/>
                <a:cs typeface="Calibri"/>
                <a:sym typeface="Calibri"/>
              </a:rPr>
              <a:t>Clean Architecture sobre .NET 10, con DIP y patrón Strategy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537960" y="3191256"/>
            <a:ext cx="82296" cy="82296"/>
          </a:xfrm>
          <a:prstGeom prst="ellipse">
            <a:avLst/>
          </a:prstGeom>
          <a:solidFill>
            <a:srgbClr val="5EC8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6766560" y="3072396"/>
            <a:ext cx="4663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3EEF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3EEF7"/>
                </a:solidFill>
                <a:latin typeface="Calibri"/>
                <a:ea typeface="Calibri"/>
                <a:cs typeface="Calibri"/>
                <a:sym typeface="Calibri"/>
              </a:rPr>
              <a:t>Lectura documental y conexión portuaria diseñadas como "hot spots" intercambiables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537960" y="3794760"/>
            <a:ext cx="82296" cy="82296"/>
          </a:xfrm>
          <a:prstGeom prst="ellipse">
            <a:avLst/>
          </a:prstGeom>
          <a:solidFill>
            <a:srgbClr val="5EC8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6766560" y="3675888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3EEF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3EEF7"/>
                </a:solidFill>
                <a:latin typeface="Calibri"/>
                <a:ea typeface="Calibri"/>
                <a:cs typeface="Calibri"/>
                <a:sym typeface="Calibri"/>
              </a:rPr>
              <a:t>Extracción de entidades vía IA sobre BL sintéticos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537960" y="4398264"/>
            <a:ext cx="82296" cy="82296"/>
          </a:xfrm>
          <a:prstGeom prst="ellipse">
            <a:avLst/>
          </a:prstGeom>
          <a:solidFill>
            <a:srgbClr val="5EC8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6766560" y="4279392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3EEF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3EEF7"/>
                </a:solidFill>
                <a:latin typeface="Calibri"/>
                <a:ea typeface="Calibri"/>
                <a:cs typeface="Calibri"/>
                <a:sym typeface="Calibri"/>
              </a:rPr>
              <a:t>Resiliencia: Strategy + Circuit Breaker (Scraping &lt;-&gt; Mock)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537960" y="5001768"/>
            <a:ext cx="82296" cy="82296"/>
          </a:xfrm>
          <a:prstGeom prst="ellipse">
            <a:avLst/>
          </a:prstGeom>
          <a:solidFill>
            <a:srgbClr val="5EC8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6766560" y="4882896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3EEF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3EEF7"/>
                </a:solidFill>
                <a:latin typeface="Calibri"/>
                <a:ea typeface="Calibri"/>
                <a:cs typeface="Calibri"/>
                <a:sym typeface="Calibri"/>
              </a:rPr>
              <a:t>Comunicación entre servicios por mensajería asíncrona (RabbitMQ)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537960" y="5605272"/>
            <a:ext cx="82296" cy="82296"/>
          </a:xfrm>
          <a:prstGeom prst="ellipse">
            <a:avLst/>
          </a:prstGeom>
          <a:solidFill>
            <a:srgbClr val="5EC8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6766560" y="5486400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3EEF7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3EEF7"/>
                </a:solidFill>
                <a:latin typeface="Calibri"/>
                <a:ea typeface="Calibri"/>
                <a:cs typeface="Calibri"/>
                <a:sym typeface="Calibri"/>
              </a:rPr>
              <a:t>Frontend web en Angular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PortIA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01-02 · RELEVANCIA Y PERFIL DE EGRESO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¿Por qué este proyecto y por qué a este </a:t>
            </a:r>
            <a:r>
              <a:rPr b="1" lang="en-US" sz="3000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perfil egresado</a:t>
            </a: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48640" y="1600200"/>
            <a:ext cx="5394960" cy="4434840"/>
          </a:xfrm>
          <a:prstGeom prst="roundRect">
            <a:avLst>
              <a:gd fmla="val 1649" name="adj"/>
            </a:avLst>
          </a:prstGeom>
          <a:solidFill>
            <a:srgbClr val="FFFFFF"/>
          </a:solidFill>
          <a:ln cap="flat" cmpd="sng" w="12700">
            <a:solidFill>
              <a:srgbClr val="D6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 txBox="1"/>
          <p:nvPr/>
        </p:nvSpPr>
        <p:spPr>
          <a:xfrm>
            <a:off x="868680" y="182880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RELEVANCIA LABORAL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 txBox="1"/>
          <p:nvPr/>
        </p:nvSpPr>
        <p:spPr>
          <a:xfrm>
            <a:off x="868680" y="2240280"/>
            <a:ext cx="47548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Chile depende del comercio internacional, pero el Comercio Exterior sigue operando con PDFs dispersos y portales que no se integran. PortIA ataca ese vacío tecnológico con un problema real y costoso: cada día de Demurrage o Detention cuesta cientos de dólares por contenedor.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868680" y="4114800"/>
            <a:ext cx="47548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Exige dominar exactamente lo que demanda la industria hoy: arquitectura escalable, integración de IA, automatización y sistemas resilientes.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217920" y="1600200"/>
            <a:ext cx="5394960" cy="4434840"/>
          </a:xfrm>
          <a:prstGeom prst="roundRect">
            <a:avLst>
              <a:gd fmla="val 1649" name="adj"/>
            </a:avLst>
          </a:prstGeom>
          <a:solidFill>
            <a:srgbClr val="FFFFFF"/>
          </a:solidFill>
          <a:ln cap="flat" cmpd="sng" w="12700">
            <a:solidFill>
              <a:srgbClr val="D6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6537960" y="182880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PERFIL DE EGRESO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537960" y="2286000"/>
            <a:ext cx="256032" cy="256032"/>
          </a:xfrm>
          <a:prstGeom prst="roundRect">
            <a:avLst>
              <a:gd fmla="val 21429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6949440" y="2231136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Levantamiento y análisis de requerimientos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537960" y="2743200"/>
            <a:ext cx="256032" cy="256032"/>
          </a:xfrm>
          <a:prstGeom prst="roundRect">
            <a:avLst>
              <a:gd fmla="val 21429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6949440" y="2688336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Desarrollo e integración de sistemas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537960" y="3200400"/>
            <a:ext cx="256032" cy="256032"/>
          </a:xfrm>
          <a:prstGeom prst="roundRect">
            <a:avLst>
              <a:gd fmla="val 21429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6949440" y="3145536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Integración de tecnologías de información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537960" y="3657600"/>
            <a:ext cx="256032" cy="256032"/>
          </a:xfrm>
          <a:prstGeom prst="roundRect">
            <a:avLst>
              <a:gd fmla="val 21429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 txBox="1"/>
          <p:nvPr/>
        </p:nvSpPr>
        <p:spPr>
          <a:xfrm>
            <a:off x="6949440" y="3602736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Seguridad y calidad del software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537960" y="4114800"/>
            <a:ext cx="256032" cy="256032"/>
          </a:xfrm>
          <a:prstGeom prst="roundRect">
            <a:avLst>
              <a:gd fmla="val 21429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6949440" y="4059936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Gestión de proyectos e información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6537960" y="4663440"/>
            <a:ext cx="47548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Nace de un problema real, exige diseñar arquitectura, integrar IA y sostener seguridad y auditoría. Puso a prueba, sobre todo, la capacidad de resolver problemas no resueltos de antemano.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PortIA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03 · FACTIBILIDAD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Factibilidad en 4 meses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548640" y="1737360"/>
            <a:ext cx="2697480" cy="4114800"/>
          </a:xfrm>
          <a:prstGeom prst="roundRect">
            <a:avLst>
              <a:gd fmla="val 2712" name="adj"/>
            </a:avLst>
          </a:prstGeom>
          <a:solidFill>
            <a:srgbClr val="065A82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777240" y="19659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C8E0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5EC8E0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777240" y="269748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Análisis ya cerrado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 txBox="1"/>
          <p:nvPr/>
        </p:nvSpPr>
        <p:spPr>
          <a:xfrm>
            <a:off x="777240" y="3520440"/>
            <a:ext cx="22860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Problemática, requerimientos, arquitectura y casos de uso documentados antes de programar.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3429000" y="1737360"/>
            <a:ext cx="2697480" cy="4114800"/>
          </a:xfrm>
          <a:prstGeom prst="roundRect">
            <a:avLst>
              <a:gd fmla="val 2712" name="adj"/>
            </a:avLst>
          </a:prstGeom>
          <a:solidFill>
            <a:srgbClr val="065A82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3657600" y="19659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C8E0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5EC8E0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3657600" y="269748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Riesgo técnico acotado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 txBox="1"/>
          <p:nvPr/>
        </p:nvSpPr>
        <p:spPr>
          <a:xfrm>
            <a:off x="3657600" y="3520440"/>
            <a:ext cx="22860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Strategy pattern aísla la incertidumbre (scraping) del resto del sistema.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309360" y="1737360"/>
            <a:ext cx="2697480" cy="4114800"/>
          </a:xfrm>
          <a:prstGeom prst="roundRect">
            <a:avLst>
              <a:gd fmla="val 2712" name="adj"/>
            </a:avLst>
          </a:prstGeom>
          <a:solidFill>
            <a:srgbClr val="065A82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 txBox="1"/>
          <p:nvPr/>
        </p:nvSpPr>
        <p:spPr>
          <a:xfrm>
            <a:off x="6537960" y="19659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C8E0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5EC8E0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 txBox="1"/>
          <p:nvPr/>
        </p:nvSpPr>
        <p:spPr>
          <a:xfrm>
            <a:off x="6537960" y="269748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Datos sintéticos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 txBox="1"/>
          <p:nvPr/>
        </p:nvSpPr>
        <p:spPr>
          <a:xfrm>
            <a:off x="6537960" y="3520440"/>
            <a:ext cx="22860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BL sintéticos eliminan la dependencia de documentación confidencial real de terceros.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9189720" y="1737360"/>
            <a:ext cx="2697480" cy="4114800"/>
          </a:xfrm>
          <a:prstGeom prst="roundRect">
            <a:avLst>
              <a:gd fmla="val 2712" name="adj"/>
            </a:avLst>
          </a:prstGeom>
          <a:solidFill>
            <a:srgbClr val="065A82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 txBox="1"/>
          <p:nvPr/>
        </p:nvSpPr>
        <p:spPr>
          <a:xfrm>
            <a:off x="9418320" y="19659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C8E0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5EC8E0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9418320" y="269748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Stack sin fricción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 txBox="1"/>
          <p:nvPr/>
        </p:nvSpPr>
        <p:spPr>
          <a:xfrm>
            <a:off x="9418320" y="3520440"/>
            <a:ext cx="22860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Tecnologías abiertas y documentadas (.NET, Python, RabbitMQ, Angular),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PortIA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04 · OBJETIVOS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Objetivo general y específicos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548640" y="1554480"/>
            <a:ext cx="10881360" cy="1005840"/>
          </a:xfrm>
          <a:prstGeom prst="roundRect">
            <a:avLst>
              <a:gd fmla="val 7273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868680" y="16916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C6D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FC6DE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 txBox="1"/>
          <p:nvPr/>
        </p:nvSpPr>
        <p:spPr>
          <a:xfrm>
            <a:off x="868680" y="1920240"/>
            <a:ext cx="10241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Desarrollar PortIA para automatizar la extracción de datos de BL mediante IA, contrastarlos con el estado real portuario, y anticipar multas de Demurrage y Detention, bajo Clean Architecture, en 4 meses.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548640" y="2880360"/>
            <a:ext cx="5349240" cy="713232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2700">
            <a:solidFill>
              <a:srgbClr val="D6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713232" y="3081528"/>
            <a:ext cx="310896" cy="31089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 txBox="1"/>
          <p:nvPr/>
        </p:nvSpPr>
        <p:spPr>
          <a:xfrm>
            <a:off x="713232" y="308152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1143000" y="2935224"/>
            <a:ext cx="46177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Diseñar arquitectura desacoplada (DIP + Strategy) para los hot spots del sistema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6080760" y="2880360"/>
            <a:ext cx="5349240" cy="713232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2700">
            <a:solidFill>
              <a:srgbClr val="D6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6245352" y="3081528"/>
            <a:ext cx="310896" cy="31089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6245352" y="308152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6675120" y="2935224"/>
            <a:ext cx="46177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Implementar la ingesta documental con extracción de campos vía IA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548640" y="3721608"/>
            <a:ext cx="5349240" cy="713232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2700">
            <a:solidFill>
              <a:srgbClr val="D6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713232" y="3922776"/>
            <a:ext cx="310896" cy="31089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713232" y="392277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1143000" y="3776472"/>
            <a:ext cx="46177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Implementar Scraping + Mock con conmutación automática (circuit breaker)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6080760" y="3721608"/>
            <a:ext cx="5349240" cy="713232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2700">
            <a:solidFill>
              <a:srgbClr val="D6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6245352" y="3922776"/>
            <a:ext cx="310896" cy="31089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6245352" y="392277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6675120" y="3776472"/>
            <a:ext cx="46177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Implementar el motor de riesgo y las notificaciones en tiempo real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548640" y="4562856"/>
            <a:ext cx="5349240" cy="713232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2700">
            <a:solidFill>
              <a:srgbClr val="D6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713232" y="4764024"/>
            <a:ext cx="310896" cy="31089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713232" y="476402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1143000" y="4617720"/>
            <a:ext cx="46177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Implementar aprobación humana para comunicaciones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6080760" y="4562856"/>
            <a:ext cx="5349240" cy="713232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2700">
            <a:solidFill>
              <a:srgbClr val="D6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6245352" y="4764024"/>
            <a:ext cx="310896" cy="31089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6245352" y="476402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6675120" y="4617720"/>
            <a:ext cx="46177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Incorporar seguridad transversal: JWT, RBAC y auditoría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548640" y="5404104"/>
            <a:ext cx="5349240" cy="713232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2700">
            <a:solidFill>
              <a:srgbClr val="D6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713232" y="5605272"/>
            <a:ext cx="310896" cy="31089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713232" y="560527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1143000" y="5458968"/>
            <a:ext cx="46177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Validar el flujo completo con pruebas funcionales e integrales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PortIA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05 · METODOLOGÍA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Cómo trabajamos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548640" y="1737360"/>
            <a:ext cx="3520440" cy="4206240"/>
          </a:xfrm>
          <a:prstGeom prst="roundRect">
            <a:avLst>
              <a:gd fmla="val 207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A4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822960" y="2011680"/>
            <a:ext cx="548640" cy="548640"/>
          </a:xfrm>
          <a:prstGeom prst="roundRect">
            <a:avLst>
              <a:gd fmla="val 50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822960" y="20116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822960" y="2743200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Scrum ágil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822960" y="3429000"/>
            <a:ext cx="29718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Sprints de 2 semanas con incrementos funcionales verificables, permitiendo mostrar avances periódicos al profesor guía.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4297680" y="1737360"/>
            <a:ext cx="3520440" cy="4206240"/>
          </a:xfrm>
          <a:prstGeom prst="roundRect">
            <a:avLst>
              <a:gd fmla="val 207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A4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4572000" y="2011680"/>
            <a:ext cx="548640" cy="548640"/>
          </a:xfrm>
          <a:prstGeom prst="roundRect">
            <a:avLst>
              <a:gd fmla="val 50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 txBox="1"/>
          <p:nvPr/>
        </p:nvSpPr>
        <p:spPr>
          <a:xfrm>
            <a:off x="4572000" y="20116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4572000" y="2743200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Entrega por funcionalidad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 txBox="1"/>
          <p:nvPr/>
        </p:nvSpPr>
        <p:spPr>
          <a:xfrm>
            <a:off x="4572000" y="3429000"/>
            <a:ext cx="29718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Dentro de Clean Architecture, cada sprint entrega una funcionalidad completa (capas de dominio, aplicación e infraestructura) reduciendo el riesgo de integración tardía Core &lt;==&gt; Agentes IA.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8046720" y="1737360"/>
            <a:ext cx="3520440" cy="4206240"/>
          </a:xfrm>
          <a:prstGeom prst="roundRect">
            <a:avLst>
              <a:gd fmla="val 207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A4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8321040" y="2011680"/>
            <a:ext cx="548640" cy="548640"/>
          </a:xfrm>
          <a:prstGeom prst="roundRect">
            <a:avLst>
              <a:gd fmla="val 50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8321040" y="20116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8321040" y="2743200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Diseño por contrato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 txBox="1"/>
          <p:nvPr/>
        </p:nvSpPr>
        <p:spPr>
          <a:xfrm>
            <a:off x="8321040" y="3429000"/>
            <a:ext cx="29718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Interfaces para los puntos de mayor incertidumbre (lectura documental, conexión portuaria), permitiendo desarrolló en paralelo.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PortIA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06 · PLAN DE TRABAJO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Recursos, facilitadores y obstaculizadores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 txBox="1"/>
          <p:nvPr/>
        </p:nvSpPr>
        <p:spPr>
          <a:xfrm>
            <a:off x="548640" y="1554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RECURSOS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548640" y="1874520"/>
            <a:ext cx="11064240" cy="548640"/>
          </a:xfrm>
          <a:prstGeom prst="roundRect">
            <a:avLst>
              <a:gd fmla="val 10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7"/>
          <p:cNvSpPr txBox="1"/>
          <p:nvPr/>
        </p:nvSpPr>
        <p:spPr>
          <a:xfrm>
            <a:off x="777240" y="187452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.NET 10  ·  Python  ·  Angular  ·  PostgreSQL  ·  RabbitMQ  ·  MinIO  ·  Redis  ·  Playwright  ·  API de IA  ·  Docker Compose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548640" y="2697480"/>
            <a:ext cx="5394960" cy="3337560"/>
          </a:xfrm>
          <a:prstGeom prst="roundRect">
            <a:avLst>
              <a:gd fmla="val 2192" name="adj"/>
            </a:avLst>
          </a:prstGeom>
          <a:solidFill>
            <a:srgbClr val="E6F3EC"/>
          </a:solidFill>
          <a:ln cap="flat" cmpd="sng" w="12700">
            <a:solidFill>
              <a:srgbClr val="9BCB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"/>
          <p:cNvSpPr txBox="1"/>
          <p:nvPr/>
        </p:nvSpPr>
        <p:spPr>
          <a:xfrm>
            <a:off x="822960" y="28803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6B4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6B45"/>
                </a:solidFill>
                <a:latin typeface="Calibri"/>
                <a:ea typeface="Calibri"/>
                <a:cs typeface="Calibri"/>
                <a:sym typeface="Calibri"/>
              </a:rPr>
              <a:t>FACILITADORES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 txBox="1"/>
          <p:nvPr/>
        </p:nvSpPr>
        <p:spPr>
          <a:xfrm>
            <a:off x="822960" y="329184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A2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4A2F"/>
                </a:solidFill>
                <a:latin typeface="Calibri"/>
                <a:ea typeface="Calibri"/>
                <a:cs typeface="Calibri"/>
                <a:sym typeface="Calibri"/>
              </a:rPr>
              <a:t>+  Análisis y arquitectura ya documentados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 txBox="1"/>
          <p:nvPr/>
        </p:nvSpPr>
        <p:spPr>
          <a:xfrm>
            <a:off x="822960" y="374904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A2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4A2F"/>
                </a:solidFill>
                <a:latin typeface="Calibri"/>
                <a:ea typeface="Calibri"/>
                <a:cs typeface="Calibri"/>
                <a:sym typeface="Calibri"/>
              </a:rPr>
              <a:t>+  Arquitectura validada por el profesor guía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 txBox="1"/>
          <p:nvPr/>
        </p:nvSpPr>
        <p:spPr>
          <a:xfrm>
            <a:off x="822960" y="420624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A2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4A2F"/>
                </a:solidFill>
                <a:latin typeface="Calibri"/>
                <a:ea typeface="Calibri"/>
                <a:cs typeface="Calibri"/>
                <a:sym typeface="Calibri"/>
              </a:rPr>
              <a:t>+  Tecnologías open source, sin licencias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 txBox="1"/>
          <p:nvPr/>
        </p:nvSpPr>
        <p:spPr>
          <a:xfrm>
            <a:off x="822960" y="466344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A2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4A2F"/>
                </a:solidFill>
                <a:latin typeface="Calibri"/>
                <a:ea typeface="Calibri"/>
                <a:cs typeface="Calibri"/>
                <a:sym typeface="Calibri"/>
              </a:rPr>
              <a:t>+  Datos sintéticos, sin dependencias externas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217920" y="2697480"/>
            <a:ext cx="5394960" cy="3337560"/>
          </a:xfrm>
          <a:prstGeom prst="roundRect">
            <a:avLst>
              <a:gd fmla="val 2192" name="adj"/>
            </a:avLst>
          </a:prstGeom>
          <a:solidFill>
            <a:srgbClr val="F7EEDD"/>
          </a:solidFill>
          <a:ln cap="flat" cmpd="sng" w="12700">
            <a:solidFill>
              <a:srgbClr val="D8B8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 txBox="1"/>
          <p:nvPr/>
        </p:nvSpPr>
        <p:spPr>
          <a:xfrm>
            <a:off x="6492240" y="28803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792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3792C"/>
                </a:solidFill>
                <a:latin typeface="Calibri"/>
                <a:ea typeface="Calibri"/>
                <a:cs typeface="Calibri"/>
                <a:sym typeface="Calibri"/>
              </a:rPr>
              <a:t>OBSTACULIZADORES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 txBox="1"/>
          <p:nvPr/>
        </p:nvSpPr>
        <p:spPr>
          <a:xfrm>
            <a:off x="6492240" y="329184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3A0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3A0E"/>
                </a:solidFill>
                <a:latin typeface="Calibri"/>
                <a:ea typeface="Calibri"/>
                <a:cs typeface="Calibri"/>
                <a:sym typeface="Calibri"/>
              </a:rPr>
              <a:t>!  Fragilidad del scraping -&gt; mitigado con Strategy + Mock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 txBox="1"/>
          <p:nvPr/>
        </p:nvSpPr>
        <p:spPr>
          <a:xfrm>
            <a:off x="6492240" y="379476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3A0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3A0E"/>
                </a:solidFill>
                <a:latin typeface="Calibri"/>
                <a:ea typeface="Calibri"/>
                <a:cs typeface="Calibri"/>
                <a:sym typeface="Calibri"/>
              </a:rPr>
              <a:t>!  Variabilidad de formatos BL entre navieras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 txBox="1"/>
          <p:nvPr/>
        </p:nvSpPr>
        <p:spPr>
          <a:xfrm>
            <a:off x="6492240" y="429768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3A0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3A0E"/>
                </a:solidFill>
                <a:latin typeface="Calibri"/>
                <a:ea typeface="Calibri"/>
                <a:cs typeface="Calibri"/>
                <a:sym typeface="Calibri"/>
              </a:rPr>
              <a:t>!  Integración Core .NET &lt;-&gt; Agentes Python vía mensajería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 txBox="1"/>
          <p:nvPr/>
        </p:nvSpPr>
        <p:spPr>
          <a:xfrm>
            <a:off x="6492240" y="480060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3A0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3A0E"/>
                </a:solidFill>
                <a:latin typeface="Calibri"/>
                <a:ea typeface="Calibri"/>
                <a:cs typeface="Calibri"/>
                <a:sym typeface="Calibri"/>
              </a:rPr>
              <a:t>!  Curva de aprendizaje en herramientas nuevas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PortIA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07 · EVIDENCIAS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Cómo se demuestra el logro de cada actividad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548640" y="1600200"/>
            <a:ext cx="11064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 txBox="1"/>
          <p:nvPr/>
        </p:nvSpPr>
        <p:spPr>
          <a:xfrm>
            <a:off x="777240" y="1600200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Análisis y problemática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 txBox="1"/>
          <p:nvPr/>
        </p:nvSpPr>
        <p:spPr>
          <a:xfrm>
            <a:off x="4754880" y="1600200"/>
            <a:ext cx="6720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Documentos de Problemática y Requerimientos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548640" y="2180844"/>
            <a:ext cx="11064240" cy="566928"/>
          </a:xfrm>
          <a:prstGeom prst="rect">
            <a:avLst/>
          </a:prstGeom>
          <a:solidFill>
            <a:srgbClr val="E9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8"/>
          <p:cNvSpPr txBox="1"/>
          <p:nvPr/>
        </p:nvSpPr>
        <p:spPr>
          <a:xfrm>
            <a:off x="777240" y="2180844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Arquitectura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 txBox="1"/>
          <p:nvPr/>
        </p:nvSpPr>
        <p:spPr>
          <a:xfrm>
            <a:off x="4754880" y="2180844"/>
            <a:ext cx="6720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Especificaciones técnicas + validación escrita del profesor guía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548640" y="2761488"/>
            <a:ext cx="11064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 txBox="1"/>
          <p:nvPr/>
        </p:nvSpPr>
        <p:spPr>
          <a:xfrm>
            <a:off x="777240" y="2761488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Análisis funcional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 txBox="1"/>
          <p:nvPr/>
        </p:nvSpPr>
        <p:spPr>
          <a:xfrm>
            <a:off x="4754880" y="2761488"/>
            <a:ext cx="6720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Catálogo de casos de uso + diagrama por actor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548640" y="3342132"/>
            <a:ext cx="11064240" cy="566928"/>
          </a:xfrm>
          <a:prstGeom prst="rect">
            <a:avLst/>
          </a:prstGeom>
          <a:solidFill>
            <a:srgbClr val="E9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8"/>
          <p:cNvSpPr txBox="1"/>
          <p:nvPr/>
        </p:nvSpPr>
        <p:spPr>
          <a:xfrm>
            <a:off x="777240" y="3342132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Diseño centrado en usuario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 txBox="1"/>
          <p:nvPr/>
        </p:nvSpPr>
        <p:spPr>
          <a:xfrm>
            <a:off x="4754880" y="3342132"/>
            <a:ext cx="6720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Storyboards narrativos por módulo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548640" y="3922776"/>
            <a:ext cx="11064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8"/>
          <p:cNvSpPr txBox="1"/>
          <p:nvPr/>
        </p:nvSpPr>
        <p:spPr>
          <a:xfrm>
            <a:off x="777240" y="3922776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Desarrollo incremental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 txBox="1"/>
          <p:nvPr/>
        </p:nvSpPr>
        <p:spPr>
          <a:xfrm>
            <a:off x="4754880" y="3922776"/>
            <a:ext cx="6720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Repositorio con historial de commits por sprint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548640" y="4503420"/>
            <a:ext cx="11064240" cy="566928"/>
          </a:xfrm>
          <a:prstGeom prst="rect">
            <a:avLst/>
          </a:prstGeom>
          <a:solidFill>
            <a:srgbClr val="E9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8"/>
          <p:cNvSpPr txBox="1"/>
          <p:nvPr/>
        </p:nvSpPr>
        <p:spPr>
          <a:xfrm>
            <a:off x="777240" y="4503420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Resiliencia técnica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 txBox="1"/>
          <p:nvPr/>
        </p:nvSpPr>
        <p:spPr>
          <a:xfrm>
            <a:off x="4754880" y="4503420"/>
            <a:ext cx="6720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Pruebas de conmutación Scraping &lt;-&gt; Mock ante fallos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548640" y="5084064"/>
            <a:ext cx="110642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8"/>
          <p:cNvSpPr txBox="1"/>
          <p:nvPr/>
        </p:nvSpPr>
        <p:spPr>
          <a:xfrm>
            <a:off x="777240" y="5084064"/>
            <a:ext cx="3840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Verificación funcional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 txBox="1"/>
          <p:nvPr/>
        </p:nvSpPr>
        <p:spPr>
          <a:xfrm>
            <a:off x="4754880" y="5084064"/>
            <a:ext cx="6720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Reporte de pruebas del flujo completo (BL -&gt; alerta)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PortIA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"/>
          <p:cNvSpPr/>
          <p:nvPr/>
        </p:nvSpPr>
        <p:spPr>
          <a:xfrm>
            <a:off x="0" y="4937760"/>
            <a:ext cx="12188952" cy="1920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0" y="5394960"/>
            <a:ext cx="12188952" cy="1463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1"/>
          <p:cNvSpPr txBox="1"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9FC6DE"/>
                </a:solidFill>
                <a:latin typeface="Calibri"/>
                <a:ea typeface="Calibri"/>
                <a:cs typeface="Calibri"/>
                <a:sym typeface="Calibri"/>
              </a:rPr>
              <a:t>DIAGRAMAS DE CASOS DE USO</a:t>
            </a:r>
            <a:endParaRPr/>
          </a:p>
        </p:txBody>
      </p:sp>
      <p:sp>
        <p:nvSpPr>
          <p:cNvPr id="232" name="Google Shape;232;p11"/>
          <p:cNvSpPr txBox="1"/>
          <p:nvPr/>
        </p:nvSpPr>
        <p:spPr>
          <a:xfrm>
            <a:off x="731520" y="1783080"/>
            <a:ext cx="9601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Casos de Uso por Módulo</a:t>
            </a:r>
            <a:endParaRPr/>
          </a:p>
        </p:txBody>
      </p:sp>
      <p:sp>
        <p:nvSpPr>
          <p:cNvPr id="233" name="Google Shape;233;p11"/>
          <p:cNvSpPr txBox="1"/>
          <p:nvPr/>
        </p:nvSpPr>
        <p:spPr>
          <a:xfrm>
            <a:off x="731520" y="2834640"/>
            <a:ext cx="9601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Ingeniero de Comercio Exterior</a:t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731520" y="3621024"/>
            <a:ext cx="128016" cy="128016"/>
          </a:xfrm>
          <a:prstGeom prst="rect">
            <a:avLst/>
          </a:prstGeom>
          <a:solidFill>
            <a:srgbClr val="5EC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1"/>
          <p:cNvSpPr txBox="1"/>
          <p:nvPr/>
        </p:nvSpPr>
        <p:spPr>
          <a:xfrm>
            <a:off x="1005840" y="35204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Autenticación y perfil</a:t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4297680" y="3621024"/>
            <a:ext cx="128016" cy="128016"/>
          </a:xfrm>
          <a:prstGeom prst="rect">
            <a:avLst/>
          </a:prstGeom>
          <a:solidFill>
            <a:srgbClr val="5EC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1"/>
          <p:cNvSpPr txBox="1"/>
          <p:nvPr/>
        </p:nvSpPr>
        <p:spPr>
          <a:xfrm>
            <a:off x="4572000" y="35204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Gestión de contenedores</a:t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7863840" y="3621024"/>
            <a:ext cx="128016" cy="128016"/>
          </a:xfrm>
          <a:prstGeom prst="rect">
            <a:avLst/>
          </a:prstGeom>
          <a:solidFill>
            <a:srgbClr val="5EC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1"/>
          <p:cNvSpPr txBox="1"/>
          <p:nvPr/>
        </p:nvSpPr>
        <p:spPr>
          <a:xfrm>
            <a:off x="8138160" y="35204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Ingesta de documentos</a:t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731520" y="4215383"/>
            <a:ext cx="128016" cy="128016"/>
          </a:xfrm>
          <a:prstGeom prst="rect">
            <a:avLst/>
          </a:prstGeom>
          <a:solidFill>
            <a:srgbClr val="5EC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1"/>
          <p:cNvSpPr txBox="1"/>
          <p:nvPr/>
        </p:nvSpPr>
        <p:spPr>
          <a:xfrm>
            <a:off x="1005840" y="41148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Alertas y notificaciones</a:t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4297680" y="4215383"/>
            <a:ext cx="128016" cy="128016"/>
          </a:xfrm>
          <a:prstGeom prst="rect">
            <a:avLst/>
          </a:prstGeom>
          <a:solidFill>
            <a:srgbClr val="5EC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1"/>
          <p:cNvSpPr txBox="1"/>
          <p:nvPr/>
        </p:nvSpPr>
        <p:spPr>
          <a:xfrm>
            <a:off x="4572000" y="41148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Comunicación (Human-in-the-Loop)</a:t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7863840" y="4215383"/>
            <a:ext cx="128016" cy="128016"/>
          </a:xfrm>
          <a:prstGeom prst="rect">
            <a:avLst/>
          </a:prstGeom>
          <a:solidFill>
            <a:srgbClr val="5EC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1"/>
          <p:cNvSpPr txBox="1"/>
          <p:nvPr/>
        </p:nvSpPr>
        <p:spPr>
          <a:xfrm>
            <a:off x="8138160" y="41148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Exportación de información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6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CASOS DE USO · VISTA 1 DE 3</a:t>
            </a:r>
            <a:endParaRPr/>
          </a:p>
        </p:txBody>
      </p:sp>
      <p:sp>
        <p:nvSpPr>
          <p:cNvPr id="251" name="Google Shape;251;p16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Autenticación, ingesta y exportación</a:t>
            </a:r>
            <a:endParaRPr/>
          </a:p>
        </p:txBody>
      </p:sp>
      <p:sp>
        <p:nvSpPr>
          <p:cNvPr id="252" name="Google Shape;252;p16"/>
          <p:cNvSpPr/>
          <p:nvPr/>
        </p:nvSpPr>
        <p:spPr>
          <a:xfrm>
            <a:off x="457200" y="2020577"/>
            <a:ext cx="3566160" cy="3365484"/>
          </a:xfrm>
          <a:prstGeom prst="roundRect">
            <a:avLst>
              <a:gd fmla="val 6000" name="adj"/>
            </a:avLst>
          </a:prstGeom>
          <a:solidFill>
            <a:srgbClr val="1212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1787791287676_imagen.png" id="253" name="Google Shape;25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" y="2185169"/>
            <a:ext cx="3236976" cy="303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6"/>
          <p:cNvSpPr txBox="1"/>
          <p:nvPr/>
        </p:nvSpPr>
        <p:spPr>
          <a:xfrm>
            <a:off x="457200" y="5916168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Autenticación y perfil</a:t>
            </a:r>
            <a:endParaRPr/>
          </a:p>
        </p:txBody>
      </p:sp>
      <p:sp>
        <p:nvSpPr>
          <p:cNvPr id="255" name="Google Shape;255;p16"/>
          <p:cNvSpPr/>
          <p:nvPr/>
        </p:nvSpPr>
        <p:spPr>
          <a:xfrm>
            <a:off x="4297680" y="2143865"/>
            <a:ext cx="3566160" cy="3118909"/>
          </a:xfrm>
          <a:prstGeom prst="roundRect">
            <a:avLst>
              <a:gd fmla="val 6000" name="adj"/>
            </a:avLst>
          </a:prstGeom>
          <a:solidFill>
            <a:srgbClr val="1212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1787791307852_imagen.png" id="256" name="Google Shape;25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62272" y="2308457"/>
            <a:ext cx="3236976" cy="278972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6"/>
          <p:cNvSpPr txBox="1"/>
          <p:nvPr/>
        </p:nvSpPr>
        <p:spPr>
          <a:xfrm>
            <a:off x="4297680" y="5916168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Ingesta de documentos</a:t>
            </a:r>
            <a:endParaRPr/>
          </a:p>
        </p:txBody>
      </p:sp>
      <p:sp>
        <p:nvSpPr>
          <p:cNvPr id="258" name="Google Shape;258;p16"/>
          <p:cNvSpPr/>
          <p:nvPr/>
        </p:nvSpPr>
        <p:spPr>
          <a:xfrm>
            <a:off x="8138160" y="2465178"/>
            <a:ext cx="3566160" cy="2476282"/>
          </a:xfrm>
          <a:prstGeom prst="roundRect">
            <a:avLst>
              <a:gd fmla="val 6000" name="adj"/>
            </a:avLst>
          </a:prstGeom>
          <a:solidFill>
            <a:srgbClr val="1212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1787791273802_imagen.png" id="259" name="Google Shape;25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02752" y="2629770"/>
            <a:ext cx="3236976" cy="2147098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6"/>
          <p:cNvSpPr txBox="1"/>
          <p:nvPr/>
        </p:nvSpPr>
        <p:spPr>
          <a:xfrm>
            <a:off x="8138160" y="5916168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Exportación de información</a:t>
            </a:r>
            <a:endParaRPr/>
          </a:p>
        </p:txBody>
      </p:sp>
      <p:sp>
        <p:nvSpPr>
          <p:cNvPr id="261" name="Google Shape;261;p1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sp>
        <p:nvSpPr>
          <p:cNvPr id="262" name="Google Shape;262;p16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PortIA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7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CASOS DE USO · VISTA 2 DE 3</a:t>
            </a:r>
            <a:endParaRPr/>
          </a:p>
        </p:txBody>
      </p:sp>
      <p:sp>
        <p:nvSpPr>
          <p:cNvPr id="268" name="Google Shape;268;p17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Alertas y comunicación</a:t>
            </a:r>
            <a:endParaRPr/>
          </a:p>
        </p:txBody>
      </p:sp>
      <p:sp>
        <p:nvSpPr>
          <p:cNvPr id="269" name="Google Shape;269;p17"/>
          <p:cNvSpPr/>
          <p:nvPr/>
        </p:nvSpPr>
        <p:spPr>
          <a:xfrm>
            <a:off x="548640" y="2002525"/>
            <a:ext cx="5394960" cy="3493029"/>
          </a:xfrm>
          <a:prstGeom prst="roundRect">
            <a:avLst>
              <a:gd fmla="val 6000" name="adj"/>
            </a:avLst>
          </a:prstGeom>
          <a:solidFill>
            <a:srgbClr val="1212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1787791318040_imagen.png" id="270" name="Google Shape;27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232" y="2167117"/>
            <a:ext cx="5065776" cy="316384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7"/>
          <p:cNvSpPr txBox="1"/>
          <p:nvPr/>
        </p:nvSpPr>
        <p:spPr>
          <a:xfrm>
            <a:off x="548640" y="6007608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Alertas y notificaciones</a:t>
            </a:r>
            <a:endParaRPr/>
          </a:p>
        </p:txBody>
      </p:sp>
      <p:sp>
        <p:nvSpPr>
          <p:cNvPr id="272" name="Google Shape;272;p17"/>
          <p:cNvSpPr/>
          <p:nvPr/>
        </p:nvSpPr>
        <p:spPr>
          <a:xfrm>
            <a:off x="6308656" y="1600200"/>
            <a:ext cx="5213486" cy="4297680"/>
          </a:xfrm>
          <a:prstGeom prst="roundRect">
            <a:avLst>
              <a:gd fmla="val 6000" name="adj"/>
            </a:avLst>
          </a:prstGeom>
          <a:solidFill>
            <a:srgbClr val="1212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1787791326797_imagen.png" id="273" name="Google Shape;27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3248" y="1764792"/>
            <a:ext cx="4884302" cy="3968496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7"/>
          <p:cNvSpPr txBox="1"/>
          <p:nvPr/>
        </p:nvSpPr>
        <p:spPr>
          <a:xfrm>
            <a:off x="6217920" y="6007608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Comunicación (Human-in-the-Loop)</a:t>
            </a:r>
            <a:endParaRPr/>
          </a:p>
        </p:txBody>
      </p:sp>
      <p:sp>
        <p:nvSpPr>
          <p:cNvPr id="275" name="Google Shape;275;p1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276" name="Google Shape;276;p17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PortIA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8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CASOS DE USO · VISTA 3 DE 3</a:t>
            </a:r>
            <a:endParaRPr/>
          </a:p>
        </p:txBody>
      </p:sp>
      <p:sp>
        <p:nvSpPr>
          <p:cNvPr id="282" name="Google Shape;282;p18"/>
          <p:cNvSpPr txBox="1"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Gestión de contenedores</a:t>
            </a:r>
            <a:endParaRPr/>
          </a:p>
        </p:txBody>
      </p:sp>
      <p:sp>
        <p:nvSpPr>
          <p:cNvPr id="283" name="Google Shape;283;p18"/>
          <p:cNvSpPr/>
          <p:nvPr/>
        </p:nvSpPr>
        <p:spPr>
          <a:xfrm>
            <a:off x="4455509" y="1463040"/>
            <a:ext cx="3250500" cy="4709160"/>
          </a:xfrm>
          <a:prstGeom prst="roundRect">
            <a:avLst>
              <a:gd fmla="val 6000" name="adj"/>
            </a:avLst>
          </a:prstGeom>
          <a:solidFill>
            <a:srgbClr val="1212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1787791297708_imagen.png" id="284" name="Google Shape;28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0101" y="1627632"/>
            <a:ext cx="2921316" cy="4379976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8"/>
          <p:cNvSpPr txBox="1"/>
          <p:nvPr/>
        </p:nvSpPr>
        <p:spPr>
          <a:xfrm>
            <a:off x="3566160" y="6281928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Gestión de contenedores</a:t>
            </a:r>
            <a:endParaRPr/>
          </a:p>
        </p:txBody>
      </p:sp>
      <p:sp>
        <p:nvSpPr>
          <p:cNvPr id="286" name="Google Shape;286;p1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287" name="Google Shape;287;p18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PortIA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ARQUITECTURA ACTUALIZADA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Arquitectura con Web Angular + Strategy/Circuit Breaker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PortIA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rch_new.png" id="297" name="Google Shape;29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417320"/>
            <a:ext cx="11155680" cy="4983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9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ARQUITECTURA DE DATOS</a:t>
            </a:r>
            <a:endParaRPr/>
          </a:p>
        </p:txBody>
      </p:sp>
      <p:sp>
        <p:nvSpPr>
          <p:cNvPr id="303" name="Google Shape;303;p19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Almacenamiento: separar objeto y metadato</a:t>
            </a:r>
            <a:endParaRPr/>
          </a:p>
        </p:txBody>
      </p:sp>
      <p:sp>
        <p:nvSpPr>
          <p:cNvPr id="304" name="Google Shape;304;p19"/>
          <p:cNvSpPr txBox="1"/>
          <p:nvPr/>
        </p:nvSpPr>
        <p:spPr>
          <a:xfrm>
            <a:off x="548640" y="141732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El PDF original nunca se guarda en PostgreSQL: vive solo en Cloudflare R2, referenciado por una clave.</a:t>
            </a:r>
            <a:endParaRPr/>
          </a:p>
        </p:txBody>
      </p:sp>
      <p:sp>
        <p:nvSpPr>
          <p:cNvPr id="305" name="Google Shape;305;p19"/>
          <p:cNvSpPr/>
          <p:nvPr/>
        </p:nvSpPr>
        <p:spPr>
          <a:xfrm>
            <a:off x="548640" y="2057400"/>
            <a:ext cx="5394960" cy="3749039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6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9"/>
          <p:cNvSpPr/>
          <p:nvPr/>
        </p:nvSpPr>
        <p:spPr>
          <a:xfrm>
            <a:off x="822960" y="228600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9"/>
          <p:cNvSpPr txBox="1"/>
          <p:nvPr/>
        </p:nvSpPr>
        <p:spPr>
          <a:xfrm>
            <a:off x="822960" y="2286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/>
          </a:p>
        </p:txBody>
      </p:sp>
      <p:sp>
        <p:nvSpPr>
          <p:cNvPr id="308" name="Google Shape;308;p19"/>
          <p:cNvSpPr txBox="1"/>
          <p:nvPr/>
        </p:nvSpPr>
        <p:spPr>
          <a:xfrm>
            <a:off x="1463040" y="22860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/>
          </a:p>
        </p:txBody>
      </p:sp>
      <p:sp>
        <p:nvSpPr>
          <p:cNvPr id="309" name="Google Shape;309;p19"/>
          <p:cNvSpPr/>
          <p:nvPr/>
        </p:nvSpPr>
        <p:spPr>
          <a:xfrm>
            <a:off x="868680" y="2999232"/>
            <a:ext cx="91440" cy="914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9"/>
          <p:cNvSpPr txBox="1"/>
          <p:nvPr/>
        </p:nvSpPr>
        <p:spPr>
          <a:xfrm>
            <a:off x="1097280" y="2907792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Metadatos del documento (container_id, tipo, fechas)</a:t>
            </a:r>
            <a:endParaRPr/>
          </a:p>
        </p:txBody>
      </p:sp>
      <p:sp>
        <p:nvSpPr>
          <p:cNvPr id="311" name="Google Shape;311;p19"/>
          <p:cNvSpPr/>
          <p:nvPr/>
        </p:nvSpPr>
        <p:spPr>
          <a:xfrm>
            <a:off x="868680" y="3502152"/>
            <a:ext cx="91440" cy="914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9"/>
          <p:cNvSpPr txBox="1"/>
          <p:nvPr/>
        </p:nvSpPr>
        <p:spPr>
          <a:xfrm>
            <a:off x="1097280" y="3410712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Datos ya extraídos por la IA (JSONB)</a:t>
            </a:r>
            <a:endParaRPr/>
          </a:p>
        </p:txBody>
      </p:sp>
      <p:sp>
        <p:nvSpPr>
          <p:cNvPr id="313" name="Google Shape;313;p19"/>
          <p:cNvSpPr/>
          <p:nvPr/>
        </p:nvSpPr>
        <p:spPr>
          <a:xfrm>
            <a:off x="868680" y="4005072"/>
            <a:ext cx="91440" cy="914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9"/>
          <p:cNvSpPr txBox="1"/>
          <p:nvPr/>
        </p:nvSpPr>
        <p:spPr>
          <a:xfrm>
            <a:off x="1097280" y="3913632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Referencia al objeto en R2 (r2_object_key)</a:t>
            </a:r>
            <a:endParaRPr/>
          </a:p>
        </p:txBody>
      </p:sp>
      <p:sp>
        <p:nvSpPr>
          <p:cNvPr id="315" name="Google Shape;315;p19"/>
          <p:cNvSpPr/>
          <p:nvPr/>
        </p:nvSpPr>
        <p:spPr>
          <a:xfrm>
            <a:off x="868680" y="4507992"/>
            <a:ext cx="91440" cy="914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9"/>
          <p:cNvSpPr txBox="1"/>
          <p:nvPr/>
        </p:nvSpPr>
        <p:spPr>
          <a:xfrm>
            <a:off x="1097280" y="4416552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Marca contains_pii + retention_until</a:t>
            </a:r>
            <a:endParaRPr/>
          </a:p>
        </p:txBody>
      </p:sp>
      <p:sp>
        <p:nvSpPr>
          <p:cNvPr id="317" name="Google Shape;317;p19"/>
          <p:cNvSpPr/>
          <p:nvPr/>
        </p:nvSpPr>
        <p:spPr>
          <a:xfrm>
            <a:off x="868680" y="5010912"/>
            <a:ext cx="91440" cy="914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9"/>
          <p:cNvSpPr txBox="1"/>
          <p:nvPr/>
        </p:nvSpPr>
        <p:spPr>
          <a:xfrm>
            <a:off x="1097280" y="4919472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Acceso vía API del Core .NET, con RBAC</a:t>
            </a:r>
            <a:endParaRPr/>
          </a:p>
        </p:txBody>
      </p:sp>
      <p:sp>
        <p:nvSpPr>
          <p:cNvPr id="319" name="Google Shape;319;p19"/>
          <p:cNvSpPr/>
          <p:nvPr/>
        </p:nvSpPr>
        <p:spPr>
          <a:xfrm>
            <a:off x="6217920" y="2057400"/>
            <a:ext cx="5394960" cy="3749039"/>
          </a:xfrm>
          <a:prstGeom prst="roundRect">
            <a:avLst>
              <a:gd fmla="val 600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9"/>
          <p:cNvSpPr/>
          <p:nvPr/>
        </p:nvSpPr>
        <p:spPr>
          <a:xfrm>
            <a:off x="6492240" y="228600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9"/>
          <p:cNvSpPr txBox="1"/>
          <p:nvPr/>
        </p:nvSpPr>
        <p:spPr>
          <a:xfrm>
            <a:off x="6492240" y="2286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R2</a:t>
            </a:r>
            <a:endParaRPr/>
          </a:p>
        </p:txBody>
      </p:sp>
      <p:sp>
        <p:nvSpPr>
          <p:cNvPr id="322" name="Google Shape;322;p19"/>
          <p:cNvSpPr txBox="1"/>
          <p:nvPr/>
        </p:nvSpPr>
        <p:spPr>
          <a:xfrm>
            <a:off x="7132320" y="22860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Cloudflare R2</a:t>
            </a:r>
            <a:endParaRPr/>
          </a:p>
        </p:txBody>
      </p:sp>
      <p:sp>
        <p:nvSpPr>
          <p:cNvPr id="323" name="Google Shape;323;p19"/>
          <p:cNvSpPr/>
          <p:nvPr/>
        </p:nvSpPr>
        <p:spPr>
          <a:xfrm>
            <a:off x="6537960" y="2999232"/>
            <a:ext cx="91440" cy="91440"/>
          </a:xfrm>
          <a:prstGeom prst="ellipse">
            <a:avLst/>
          </a:prstGeom>
          <a:solidFill>
            <a:srgbClr val="5EC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9"/>
          <p:cNvSpPr txBox="1"/>
          <p:nvPr/>
        </p:nvSpPr>
        <p:spPr>
          <a:xfrm>
            <a:off x="6766560" y="2907792"/>
            <a:ext cx="466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3EEF7"/>
                </a:solidFill>
                <a:latin typeface="Calibri"/>
                <a:ea typeface="Calibri"/>
                <a:cs typeface="Calibri"/>
                <a:sym typeface="Calibri"/>
              </a:rPr>
              <a:t>El archivo PDF original del BL</a:t>
            </a:r>
            <a:r>
              <a:rPr b="0" i="0" lang="en-US" sz="1200" u="none" cap="none" strike="noStrike">
                <a:solidFill>
                  <a:srgbClr val="E3EEF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325" name="Google Shape;325;p19"/>
          <p:cNvSpPr/>
          <p:nvPr/>
        </p:nvSpPr>
        <p:spPr>
          <a:xfrm>
            <a:off x="6537960" y="3547872"/>
            <a:ext cx="91440" cy="91440"/>
          </a:xfrm>
          <a:prstGeom prst="ellipse">
            <a:avLst/>
          </a:prstGeom>
          <a:solidFill>
            <a:srgbClr val="5EC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9"/>
          <p:cNvSpPr txBox="1"/>
          <p:nvPr/>
        </p:nvSpPr>
        <p:spPr>
          <a:xfrm>
            <a:off x="6766560" y="3456432"/>
            <a:ext cx="466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3EEF7"/>
                </a:solidFill>
                <a:latin typeface="Calibri"/>
                <a:ea typeface="Calibri"/>
                <a:cs typeface="Calibri"/>
                <a:sym typeface="Calibri"/>
              </a:rPr>
              <a:t>Cifrado en reposo (AES-256) + TLS en tránsito</a:t>
            </a:r>
            <a:endParaRPr/>
          </a:p>
        </p:txBody>
      </p:sp>
      <p:sp>
        <p:nvSpPr>
          <p:cNvPr id="327" name="Google Shape;327;p19"/>
          <p:cNvSpPr/>
          <p:nvPr/>
        </p:nvSpPr>
        <p:spPr>
          <a:xfrm>
            <a:off x="6537960" y="4096512"/>
            <a:ext cx="91440" cy="91440"/>
          </a:xfrm>
          <a:prstGeom prst="ellipse">
            <a:avLst/>
          </a:prstGeom>
          <a:solidFill>
            <a:srgbClr val="5EC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9"/>
          <p:cNvSpPr txBox="1"/>
          <p:nvPr/>
        </p:nvSpPr>
        <p:spPr>
          <a:xfrm>
            <a:off x="6766560" y="4005072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3EEF7"/>
                </a:solidFill>
                <a:latin typeface="Calibri"/>
                <a:ea typeface="Calibri"/>
                <a:cs typeface="Calibri"/>
                <a:sym typeface="Calibri"/>
              </a:rPr>
              <a:t>Nunca público: acceso solo por URL prefirmada de corta duración</a:t>
            </a:r>
            <a:endParaRPr/>
          </a:p>
        </p:txBody>
      </p:sp>
      <p:sp>
        <p:nvSpPr>
          <p:cNvPr id="329" name="Google Shape;329;p19"/>
          <p:cNvSpPr/>
          <p:nvPr/>
        </p:nvSpPr>
        <p:spPr>
          <a:xfrm>
            <a:off x="6537960" y="4645152"/>
            <a:ext cx="91440" cy="91440"/>
          </a:xfrm>
          <a:prstGeom prst="ellipse">
            <a:avLst/>
          </a:prstGeom>
          <a:solidFill>
            <a:srgbClr val="5EC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9"/>
          <p:cNvSpPr txBox="1"/>
          <p:nvPr/>
        </p:nvSpPr>
        <p:spPr>
          <a:xfrm>
            <a:off x="6766560" y="4553712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3EEF7"/>
                </a:solidFill>
                <a:latin typeface="Calibri"/>
                <a:ea typeface="Calibri"/>
                <a:cs typeface="Calibri"/>
                <a:sym typeface="Calibri"/>
              </a:rPr>
              <a:t>Único tercero externo relevante para transferencia internacional de datos</a:t>
            </a:r>
            <a:endParaRPr/>
          </a:p>
        </p:txBody>
      </p:sp>
      <p:sp>
        <p:nvSpPr>
          <p:cNvPr id="331" name="Google Shape;331;p19"/>
          <p:cNvSpPr/>
          <p:nvPr/>
        </p:nvSpPr>
        <p:spPr>
          <a:xfrm>
            <a:off x="6537960" y="5193792"/>
            <a:ext cx="91440" cy="91440"/>
          </a:xfrm>
          <a:prstGeom prst="ellipse">
            <a:avLst/>
          </a:prstGeom>
          <a:solidFill>
            <a:srgbClr val="5EC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9"/>
          <p:cNvSpPr txBox="1"/>
          <p:nvPr/>
        </p:nvSpPr>
        <p:spPr>
          <a:xfrm>
            <a:off x="6766560" y="5102352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3EEF7"/>
                </a:solidFill>
                <a:latin typeface="Calibri"/>
                <a:ea typeface="Calibri"/>
                <a:cs typeface="Calibri"/>
                <a:sym typeface="Calibri"/>
              </a:rPr>
              <a:t>Borrado efectivo del objeto al cumplirse el plazo de retención</a:t>
            </a:r>
            <a:endParaRPr/>
          </a:p>
        </p:txBody>
      </p:sp>
      <p:sp>
        <p:nvSpPr>
          <p:cNvPr id="333" name="Google Shape;333;p1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334" name="Google Shape;334;p19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PortIA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CUMPLIMIENTO NORMATIVO</a:t>
            </a:r>
            <a:endParaRPr/>
          </a:p>
        </p:txBody>
      </p:sp>
      <p:sp>
        <p:nvSpPr>
          <p:cNvPr id="340" name="Google Shape;340;p20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Ley 21.719 de Protección de Datos Personales</a:t>
            </a:r>
            <a:endParaRPr/>
          </a:p>
        </p:txBody>
      </p:sp>
      <p:sp>
        <p:nvSpPr>
          <p:cNvPr id="341" name="Google Shape;341;p20"/>
          <p:cNvSpPr/>
          <p:nvPr/>
        </p:nvSpPr>
        <p:spPr>
          <a:xfrm>
            <a:off x="548640" y="1463040"/>
            <a:ext cx="11064240" cy="621792"/>
          </a:xfrm>
          <a:prstGeom prst="roundRect">
            <a:avLst>
              <a:gd fmla="val 10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0"/>
          <p:cNvSpPr txBox="1"/>
          <p:nvPr/>
        </p:nvSpPr>
        <p:spPr>
          <a:xfrm>
            <a:off x="822950" y="1647450"/>
            <a:ext cx="10515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Entra en plena vigencia el 1 de diciembre de 202</a:t>
            </a:r>
            <a:r>
              <a:rPr b="1"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43" name="Google Shape;343;p20"/>
          <p:cNvSpPr/>
          <p:nvPr/>
        </p:nvSpPr>
        <p:spPr>
          <a:xfrm>
            <a:off x="548640" y="2286000"/>
            <a:ext cx="11064240" cy="566928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1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685800" y="2386584"/>
            <a:ext cx="2743200" cy="365760"/>
          </a:xfrm>
          <a:prstGeom prst="roundRect">
            <a:avLst>
              <a:gd fmla="val 50000" name="adj"/>
            </a:avLst>
          </a:prstGeom>
          <a:solidFill>
            <a:srgbClr val="F7EE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0"/>
          <p:cNvSpPr txBox="1"/>
          <p:nvPr/>
        </p:nvSpPr>
        <p:spPr>
          <a:xfrm>
            <a:off x="685800" y="2386584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B3792C"/>
                </a:solidFill>
                <a:latin typeface="Calibri"/>
                <a:ea typeface="Calibri"/>
                <a:cs typeface="Calibri"/>
                <a:sym typeface="Calibri"/>
              </a:rPr>
              <a:t>Deber de seguridad</a:t>
            </a:r>
            <a:endParaRPr/>
          </a:p>
        </p:txBody>
      </p:sp>
      <p:sp>
        <p:nvSpPr>
          <p:cNvPr id="346" name="Google Shape;346;p20"/>
          <p:cNvSpPr txBox="1"/>
          <p:nvPr/>
        </p:nvSpPr>
        <p:spPr>
          <a:xfrm>
            <a:off x="3703320" y="2286000"/>
            <a:ext cx="7680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Cifrado en tránsito y en reposo, RBAC, URLs prefirmadas de corta duración</a:t>
            </a:r>
            <a:endParaRPr/>
          </a:p>
        </p:txBody>
      </p:sp>
      <p:sp>
        <p:nvSpPr>
          <p:cNvPr id="347" name="Google Shape;347;p20"/>
          <p:cNvSpPr/>
          <p:nvPr/>
        </p:nvSpPr>
        <p:spPr>
          <a:xfrm>
            <a:off x="548640" y="2898648"/>
            <a:ext cx="11064240" cy="566928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1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0"/>
          <p:cNvSpPr/>
          <p:nvPr/>
        </p:nvSpPr>
        <p:spPr>
          <a:xfrm>
            <a:off x="685800" y="2999232"/>
            <a:ext cx="2743200" cy="365760"/>
          </a:xfrm>
          <a:prstGeom prst="roundRect">
            <a:avLst>
              <a:gd fmla="val 50000" name="adj"/>
            </a:avLst>
          </a:prstGeom>
          <a:solidFill>
            <a:srgbClr val="F7EE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0"/>
          <p:cNvSpPr txBox="1"/>
          <p:nvPr/>
        </p:nvSpPr>
        <p:spPr>
          <a:xfrm>
            <a:off x="685800" y="299923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B3792C"/>
                </a:solidFill>
                <a:latin typeface="Calibri"/>
                <a:ea typeface="Calibri"/>
                <a:cs typeface="Calibri"/>
                <a:sym typeface="Calibri"/>
              </a:rPr>
              <a:t>Notificación de brechas (72h)</a:t>
            </a:r>
            <a:endParaRPr/>
          </a:p>
        </p:txBody>
      </p:sp>
      <p:sp>
        <p:nvSpPr>
          <p:cNvPr id="350" name="Google Shape;350;p20"/>
          <p:cNvSpPr txBox="1"/>
          <p:nvPr/>
        </p:nvSpPr>
        <p:spPr>
          <a:xfrm>
            <a:off x="3703320" y="2898648"/>
            <a:ext cx="7680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Se reutiliza el sistema de alertas en tiempo real (SignalR) como canal técnico</a:t>
            </a:r>
            <a:endParaRPr/>
          </a:p>
        </p:txBody>
      </p:sp>
      <p:sp>
        <p:nvSpPr>
          <p:cNvPr id="351" name="Google Shape;351;p20"/>
          <p:cNvSpPr/>
          <p:nvPr/>
        </p:nvSpPr>
        <p:spPr>
          <a:xfrm>
            <a:off x="548640" y="3511296"/>
            <a:ext cx="11064240" cy="566928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1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0"/>
          <p:cNvSpPr/>
          <p:nvPr/>
        </p:nvSpPr>
        <p:spPr>
          <a:xfrm>
            <a:off x="685800" y="3611879"/>
            <a:ext cx="2743200" cy="365760"/>
          </a:xfrm>
          <a:prstGeom prst="roundRect">
            <a:avLst>
              <a:gd fmla="val 50000" name="adj"/>
            </a:avLst>
          </a:prstGeom>
          <a:solidFill>
            <a:srgbClr val="F7EE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0"/>
          <p:cNvSpPr txBox="1"/>
          <p:nvPr/>
        </p:nvSpPr>
        <p:spPr>
          <a:xfrm>
            <a:off x="685800" y="3611879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B3792C"/>
                </a:solidFill>
                <a:latin typeface="Calibri"/>
                <a:ea typeface="Calibri"/>
                <a:cs typeface="Calibri"/>
                <a:sym typeface="Calibri"/>
              </a:rPr>
              <a:t>Derechos ARCO+</a:t>
            </a:r>
            <a:endParaRPr/>
          </a:p>
        </p:txBody>
      </p:sp>
      <p:sp>
        <p:nvSpPr>
          <p:cNvPr id="354" name="Google Shape;354;p20"/>
          <p:cNvSpPr txBox="1"/>
          <p:nvPr/>
        </p:nvSpPr>
        <p:spPr>
          <a:xfrm>
            <a:off x="3703320" y="3511296"/>
            <a:ext cx="7680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Separar objeto/metadato permite borrar o rectificar de forma consistente en ambos lados</a:t>
            </a:r>
            <a:endParaRPr/>
          </a:p>
        </p:txBody>
      </p:sp>
      <p:sp>
        <p:nvSpPr>
          <p:cNvPr id="355" name="Google Shape;355;p20"/>
          <p:cNvSpPr/>
          <p:nvPr/>
        </p:nvSpPr>
        <p:spPr>
          <a:xfrm>
            <a:off x="548640" y="4123944"/>
            <a:ext cx="11064240" cy="566928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1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685800" y="4224528"/>
            <a:ext cx="2743200" cy="365760"/>
          </a:xfrm>
          <a:prstGeom prst="roundRect">
            <a:avLst>
              <a:gd fmla="val 50000" name="adj"/>
            </a:avLst>
          </a:prstGeom>
          <a:solidFill>
            <a:srgbClr val="F7EE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0"/>
          <p:cNvSpPr txBox="1"/>
          <p:nvPr/>
        </p:nvSpPr>
        <p:spPr>
          <a:xfrm>
            <a:off x="685800" y="422452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B3792C"/>
                </a:solidFill>
                <a:latin typeface="Calibri"/>
                <a:ea typeface="Calibri"/>
                <a:cs typeface="Calibri"/>
                <a:sym typeface="Calibri"/>
              </a:rPr>
              <a:t>Minimización de datos</a:t>
            </a:r>
            <a:endParaRPr/>
          </a:p>
        </p:txBody>
      </p:sp>
      <p:sp>
        <p:nvSpPr>
          <p:cNvPr id="358" name="Google Shape;358;p20"/>
          <p:cNvSpPr txBox="1"/>
          <p:nvPr/>
        </p:nvSpPr>
        <p:spPr>
          <a:xfrm>
            <a:off x="3703320" y="4123944"/>
            <a:ext cx="7680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La IA extrae solo los campos necesarios para el cálculo de riesgo, nada más</a:t>
            </a:r>
            <a:endParaRPr/>
          </a:p>
        </p:txBody>
      </p:sp>
      <p:sp>
        <p:nvSpPr>
          <p:cNvPr id="359" name="Google Shape;359;p20"/>
          <p:cNvSpPr/>
          <p:nvPr/>
        </p:nvSpPr>
        <p:spPr>
          <a:xfrm>
            <a:off x="548640" y="4736592"/>
            <a:ext cx="11064240" cy="566928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1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0"/>
          <p:cNvSpPr/>
          <p:nvPr/>
        </p:nvSpPr>
        <p:spPr>
          <a:xfrm>
            <a:off x="685800" y="4837176"/>
            <a:ext cx="2743200" cy="365760"/>
          </a:xfrm>
          <a:prstGeom prst="roundRect">
            <a:avLst>
              <a:gd fmla="val 50000" name="adj"/>
            </a:avLst>
          </a:prstGeom>
          <a:solidFill>
            <a:srgbClr val="F7EE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0"/>
          <p:cNvSpPr txBox="1"/>
          <p:nvPr/>
        </p:nvSpPr>
        <p:spPr>
          <a:xfrm>
            <a:off x="685800" y="483717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B3792C"/>
                </a:solidFill>
                <a:latin typeface="Calibri"/>
                <a:ea typeface="Calibri"/>
                <a:cs typeface="Calibri"/>
                <a:sym typeface="Calibri"/>
              </a:rPr>
              <a:t>Transferencia internacional</a:t>
            </a:r>
            <a:endParaRPr/>
          </a:p>
        </p:txBody>
      </p:sp>
      <p:sp>
        <p:nvSpPr>
          <p:cNvPr id="362" name="Google Shape;362;p20"/>
          <p:cNvSpPr txBox="1"/>
          <p:nvPr/>
        </p:nvSpPr>
        <p:spPr>
          <a:xfrm>
            <a:off x="3703320" y="4736592"/>
            <a:ext cx="7680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Cloudflare, como encargado del tratamiento, queda documentado y con DPA firmado</a:t>
            </a:r>
            <a:endParaRPr/>
          </a:p>
        </p:txBody>
      </p:sp>
      <p:sp>
        <p:nvSpPr>
          <p:cNvPr id="363" name="Google Shape;363;p20"/>
          <p:cNvSpPr/>
          <p:nvPr/>
        </p:nvSpPr>
        <p:spPr>
          <a:xfrm>
            <a:off x="548640" y="5349240"/>
            <a:ext cx="11064240" cy="566928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1E7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0"/>
          <p:cNvSpPr/>
          <p:nvPr/>
        </p:nvSpPr>
        <p:spPr>
          <a:xfrm>
            <a:off x="685800" y="5449824"/>
            <a:ext cx="2743200" cy="365760"/>
          </a:xfrm>
          <a:prstGeom prst="roundRect">
            <a:avLst>
              <a:gd fmla="val 50000" name="adj"/>
            </a:avLst>
          </a:prstGeom>
          <a:solidFill>
            <a:srgbClr val="F7EE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0"/>
          <p:cNvSpPr txBox="1"/>
          <p:nvPr/>
        </p:nvSpPr>
        <p:spPr>
          <a:xfrm>
            <a:off x="685800" y="5449824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B3792C"/>
                </a:solidFill>
                <a:latin typeface="Calibri"/>
                <a:ea typeface="Calibri"/>
                <a:cs typeface="Calibri"/>
                <a:sym typeface="Calibri"/>
              </a:rPr>
              <a:t>Registro de tratamiento</a:t>
            </a:r>
            <a:endParaRPr/>
          </a:p>
        </p:txBody>
      </p:sp>
      <p:sp>
        <p:nvSpPr>
          <p:cNvPr id="366" name="Google Shape;366;p20"/>
          <p:cNvSpPr txBox="1"/>
          <p:nvPr/>
        </p:nvSpPr>
        <p:spPr>
          <a:xfrm>
            <a:off x="3703320" y="5349240"/>
            <a:ext cx="7680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El log de auditoría existente (CU-COR-03) se extiende para cubrir esta exigencia</a:t>
            </a:r>
            <a:endParaRPr/>
          </a:p>
        </p:txBody>
      </p:sp>
      <p:sp>
        <p:nvSpPr>
          <p:cNvPr id="367" name="Google Shape;367;p2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68" name="Google Shape;368;p20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PortIA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INFRAESTRUCTURA Y DESPLIEGUE</a:t>
            </a:r>
            <a:endParaRPr/>
          </a:p>
        </p:txBody>
      </p:sp>
      <p:sp>
        <p:nvSpPr>
          <p:cNvPr id="374" name="Google Shape;374;p21"/>
          <p:cNvSpPr txBox="1"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Cómo se levanta: local vs. producción</a:t>
            </a:r>
            <a:endParaRPr/>
          </a:p>
        </p:txBody>
      </p:sp>
      <p:sp>
        <p:nvSpPr>
          <p:cNvPr id="375" name="Google Shape;375;p21"/>
          <p:cNvSpPr txBox="1"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El mismo docker-compose.yml define ambos entornos; solo cambian las variables de entorno.</a:t>
            </a:r>
            <a:endParaRPr/>
          </a:p>
        </p:txBody>
      </p:sp>
      <p:sp>
        <p:nvSpPr>
          <p:cNvPr id="376" name="Google Shape;376;p21"/>
          <p:cNvSpPr/>
          <p:nvPr/>
        </p:nvSpPr>
        <p:spPr>
          <a:xfrm>
            <a:off x="548640" y="2011680"/>
            <a:ext cx="5394960" cy="416052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6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822960" y="224028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1"/>
          <p:cNvSpPr txBox="1"/>
          <p:nvPr/>
        </p:nvSpPr>
        <p:spPr>
          <a:xfrm>
            <a:off x="822960" y="2240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/>
          </a:p>
        </p:txBody>
      </p:sp>
      <p:sp>
        <p:nvSpPr>
          <p:cNvPr id="379" name="Google Shape;379;p21"/>
          <p:cNvSpPr txBox="1"/>
          <p:nvPr/>
        </p:nvSpPr>
        <p:spPr>
          <a:xfrm>
            <a:off x="1463040" y="224028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Desarrollo local</a:t>
            </a:r>
            <a:endParaRPr/>
          </a:p>
        </p:txBody>
      </p:sp>
      <p:sp>
        <p:nvSpPr>
          <p:cNvPr id="380" name="Google Shape;380;p21"/>
          <p:cNvSpPr/>
          <p:nvPr/>
        </p:nvSpPr>
        <p:spPr>
          <a:xfrm>
            <a:off x="868680" y="2953512"/>
            <a:ext cx="91440" cy="914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1"/>
          <p:cNvSpPr txBox="1"/>
          <p:nvPr/>
        </p:nvSpPr>
        <p:spPr>
          <a:xfrm>
            <a:off x="1097280" y="2862072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docker-compose up levanta todo el sistema con un solo comando</a:t>
            </a:r>
            <a:endParaRPr/>
          </a:p>
        </p:txBody>
      </p:sp>
      <p:sp>
        <p:nvSpPr>
          <p:cNvPr id="382" name="Google Shape;382;p21"/>
          <p:cNvSpPr/>
          <p:nvPr/>
        </p:nvSpPr>
        <p:spPr>
          <a:xfrm>
            <a:off x="868680" y="3611880"/>
            <a:ext cx="91440" cy="914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1"/>
          <p:cNvSpPr txBox="1"/>
          <p:nvPr/>
        </p:nvSpPr>
        <p:spPr>
          <a:xfrm>
            <a:off x="1097280" y="3520440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PostgreSQL, RabbitMQ, Redis, Core .NET y agentes Python, todos en contenedores</a:t>
            </a:r>
            <a:endParaRPr/>
          </a:p>
        </p:txBody>
      </p:sp>
      <p:sp>
        <p:nvSpPr>
          <p:cNvPr id="384" name="Google Shape;384;p21"/>
          <p:cNvSpPr/>
          <p:nvPr/>
        </p:nvSpPr>
        <p:spPr>
          <a:xfrm>
            <a:off x="868680" y="4270248"/>
            <a:ext cx="91440" cy="914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1"/>
          <p:cNvSpPr txBox="1"/>
          <p:nvPr/>
        </p:nvSpPr>
        <p:spPr>
          <a:xfrm>
            <a:off x="1097280" y="4178808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MinIO simula el almacenamiento de objetos (API compatible con S3/R2)</a:t>
            </a:r>
            <a:endParaRPr/>
          </a:p>
        </p:txBody>
      </p:sp>
      <p:sp>
        <p:nvSpPr>
          <p:cNvPr id="386" name="Google Shape;386;p21"/>
          <p:cNvSpPr/>
          <p:nvPr/>
        </p:nvSpPr>
        <p:spPr>
          <a:xfrm>
            <a:off x="868680" y="4928616"/>
            <a:ext cx="91440" cy="914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1"/>
          <p:cNvSpPr txBox="1"/>
          <p:nvPr/>
        </p:nvSpPr>
        <p:spPr>
          <a:xfrm>
            <a:off x="1097280" y="4837176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Cero servicios externos necesarios para desarrollar o hacer una demo</a:t>
            </a:r>
            <a:endParaRPr/>
          </a:p>
        </p:txBody>
      </p:sp>
      <p:sp>
        <p:nvSpPr>
          <p:cNvPr id="388" name="Google Shape;388;p21"/>
          <p:cNvSpPr/>
          <p:nvPr/>
        </p:nvSpPr>
        <p:spPr>
          <a:xfrm>
            <a:off x="868680" y="5586983"/>
            <a:ext cx="91440" cy="914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1"/>
          <p:cNvSpPr txBox="1"/>
          <p:nvPr/>
        </p:nvSpPr>
        <p:spPr>
          <a:xfrm>
            <a:off x="1097280" y="5495544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Variables de entorno en .env.local, distintas a las de producción</a:t>
            </a:r>
            <a:endParaRPr/>
          </a:p>
        </p:txBody>
      </p:sp>
      <p:sp>
        <p:nvSpPr>
          <p:cNvPr id="390" name="Google Shape;390;p21"/>
          <p:cNvSpPr/>
          <p:nvPr/>
        </p:nvSpPr>
        <p:spPr>
          <a:xfrm>
            <a:off x="6217920" y="2011680"/>
            <a:ext cx="5394960" cy="4160520"/>
          </a:xfrm>
          <a:prstGeom prst="roundRect">
            <a:avLst>
              <a:gd fmla="val 600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1"/>
          <p:cNvSpPr/>
          <p:nvPr/>
        </p:nvSpPr>
        <p:spPr>
          <a:xfrm>
            <a:off x="6492240" y="224028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1"/>
          <p:cNvSpPr txBox="1"/>
          <p:nvPr/>
        </p:nvSpPr>
        <p:spPr>
          <a:xfrm>
            <a:off x="6492240" y="2240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/>
          </a:p>
        </p:txBody>
      </p:sp>
      <p:sp>
        <p:nvSpPr>
          <p:cNvPr id="393" name="Google Shape;393;p21"/>
          <p:cNvSpPr txBox="1"/>
          <p:nvPr/>
        </p:nvSpPr>
        <p:spPr>
          <a:xfrm>
            <a:off x="7132320" y="224028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Producción (VPS propio)</a:t>
            </a:r>
            <a:endParaRPr/>
          </a:p>
        </p:txBody>
      </p:sp>
      <p:sp>
        <p:nvSpPr>
          <p:cNvPr id="394" name="Google Shape;394;p21"/>
          <p:cNvSpPr/>
          <p:nvPr/>
        </p:nvSpPr>
        <p:spPr>
          <a:xfrm>
            <a:off x="6537960" y="2953512"/>
            <a:ext cx="91440" cy="91440"/>
          </a:xfrm>
          <a:prstGeom prst="ellipse">
            <a:avLst/>
          </a:prstGeom>
          <a:solidFill>
            <a:srgbClr val="5EC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1"/>
          <p:cNvSpPr txBox="1"/>
          <p:nvPr/>
        </p:nvSpPr>
        <p:spPr>
          <a:xfrm>
            <a:off x="6766560" y="2862072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3EEF7"/>
                </a:solidFill>
                <a:latin typeface="Calibri"/>
                <a:ea typeface="Calibri"/>
                <a:cs typeface="Calibri"/>
                <a:sym typeface="Calibri"/>
              </a:rPr>
              <a:t>Mismo docker-compose.yml desplegado en un servidor (VPS) propio</a:t>
            </a:r>
            <a:endParaRPr/>
          </a:p>
        </p:txBody>
      </p:sp>
      <p:sp>
        <p:nvSpPr>
          <p:cNvPr id="396" name="Google Shape;396;p21"/>
          <p:cNvSpPr/>
          <p:nvPr/>
        </p:nvSpPr>
        <p:spPr>
          <a:xfrm>
            <a:off x="6537960" y="3611880"/>
            <a:ext cx="91440" cy="91440"/>
          </a:xfrm>
          <a:prstGeom prst="ellipse">
            <a:avLst/>
          </a:prstGeom>
          <a:solidFill>
            <a:srgbClr val="5EC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1"/>
          <p:cNvSpPr txBox="1"/>
          <p:nvPr/>
        </p:nvSpPr>
        <p:spPr>
          <a:xfrm>
            <a:off x="6766560" y="3520440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3EEF7"/>
                </a:solidFill>
                <a:latin typeface="Calibri"/>
                <a:ea typeface="Calibri"/>
                <a:cs typeface="Calibri"/>
                <a:sym typeface="Calibri"/>
              </a:rPr>
              <a:t>PostgreSQL, RabbitMQ, Redis, Core y agentes se mantienen auto-alojados, con control total sobre los datos</a:t>
            </a:r>
            <a:endParaRPr/>
          </a:p>
        </p:txBody>
      </p:sp>
      <p:sp>
        <p:nvSpPr>
          <p:cNvPr id="398" name="Google Shape;398;p21"/>
          <p:cNvSpPr/>
          <p:nvPr/>
        </p:nvSpPr>
        <p:spPr>
          <a:xfrm>
            <a:off x="6537960" y="4270248"/>
            <a:ext cx="91440" cy="91440"/>
          </a:xfrm>
          <a:prstGeom prst="ellipse">
            <a:avLst/>
          </a:prstGeom>
          <a:solidFill>
            <a:srgbClr val="5EC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1"/>
          <p:cNvSpPr txBox="1"/>
          <p:nvPr/>
        </p:nvSpPr>
        <p:spPr>
          <a:xfrm>
            <a:off x="6766560" y="4178808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3EEF7"/>
                </a:solidFill>
                <a:latin typeface="Calibri"/>
                <a:ea typeface="Calibri"/>
                <a:cs typeface="Calibri"/>
                <a:sym typeface="Calibri"/>
              </a:rPr>
              <a:t>Solo cambia el destino del almacenamiento de objetos: de MinIO a Cloudflare R2</a:t>
            </a:r>
            <a:endParaRPr/>
          </a:p>
        </p:txBody>
      </p:sp>
      <p:sp>
        <p:nvSpPr>
          <p:cNvPr id="400" name="Google Shape;400;p21"/>
          <p:cNvSpPr/>
          <p:nvPr/>
        </p:nvSpPr>
        <p:spPr>
          <a:xfrm>
            <a:off x="6537960" y="4928616"/>
            <a:ext cx="91440" cy="91440"/>
          </a:xfrm>
          <a:prstGeom prst="ellipse">
            <a:avLst/>
          </a:prstGeom>
          <a:solidFill>
            <a:srgbClr val="5EC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1"/>
          <p:cNvSpPr txBox="1"/>
          <p:nvPr/>
        </p:nvSpPr>
        <p:spPr>
          <a:xfrm>
            <a:off x="6766560" y="4837176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3EEF7"/>
                </a:solidFill>
                <a:latin typeface="Calibri"/>
                <a:ea typeface="Calibri"/>
                <a:cs typeface="Calibri"/>
                <a:sym typeface="Calibri"/>
              </a:rPr>
              <a:t>Credenciales y secretos vía variables de entorno de producción, nunca hardcodeados</a:t>
            </a:r>
            <a:endParaRPr/>
          </a:p>
        </p:txBody>
      </p:sp>
      <p:sp>
        <p:nvSpPr>
          <p:cNvPr id="402" name="Google Shape;402;p21"/>
          <p:cNvSpPr/>
          <p:nvPr/>
        </p:nvSpPr>
        <p:spPr>
          <a:xfrm>
            <a:off x="6537960" y="5586983"/>
            <a:ext cx="91440" cy="91440"/>
          </a:xfrm>
          <a:prstGeom prst="ellipse">
            <a:avLst/>
          </a:prstGeom>
          <a:solidFill>
            <a:srgbClr val="5EC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1"/>
          <p:cNvSpPr txBox="1"/>
          <p:nvPr/>
        </p:nvSpPr>
        <p:spPr>
          <a:xfrm>
            <a:off x="6766560" y="5495544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3EEF7"/>
                </a:solidFill>
                <a:latin typeface="Calibri"/>
                <a:ea typeface="Calibri"/>
                <a:cs typeface="Calibri"/>
                <a:sym typeface="Calibri"/>
              </a:rPr>
              <a:t>Control propio del servidor: más simple de auditar frente a la Ley 21.719 que depender de múltiples servicios gestionados de terceros</a:t>
            </a:r>
            <a:endParaRPr/>
          </a:p>
        </p:txBody>
      </p:sp>
      <p:sp>
        <p:nvSpPr>
          <p:cNvPr id="404" name="Google Shape;404;p2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/>
          </a:p>
        </p:txBody>
      </p:sp>
      <p:sp>
        <p:nvSpPr>
          <p:cNvPr id="405" name="Google Shape;405;p21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PortIA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10 · CRONOGRAMA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Plan de trabajo — 8 sprints / 16 semanas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685800" y="1783080"/>
            <a:ext cx="640080" cy="365760"/>
          </a:xfrm>
          <a:prstGeom prst="roundRect">
            <a:avLst>
              <a:gd fmla="val 15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2"/>
          <p:cNvSpPr txBox="1"/>
          <p:nvPr/>
        </p:nvSpPr>
        <p:spPr>
          <a:xfrm>
            <a:off x="685800" y="178308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 txBox="1"/>
          <p:nvPr/>
        </p:nvSpPr>
        <p:spPr>
          <a:xfrm>
            <a:off x="1508760" y="1691640"/>
            <a:ext cx="1188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Sem. 1-2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 txBox="1"/>
          <p:nvPr/>
        </p:nvSpPr>
        <p:spPr>
          <a:xfrm>
            <a:off x="2834640" y="1691640"/>
            <a:ext cx="8595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Cierre de análisis + setup infra (Docker Compose)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548640" y="2253996"/>
            <a:ext cx="11064240" cy="548640"/>
          </a:xfrm>
          <a:prstGeom prst="rect">
            <a:avLst/>
          </a:prstGeom>
          <a:solidFill>
            <a:srgbClr val="E9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685800" y="2345436"/>
            <a:ext cx="640080" cy="365760"/>
          </a:xfrm>
          <a:prstGeom prst="roundRect">
            <a:avLst>
              <a:gd fmla="val 15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2"/>
          <p:cNvSpPr txBox="1"/>
          <p:nvPr/>
        </p:nvSpPr>
        <p:spPr>
          <a:xfrm>
            <a:off x="685800" y="2345436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2"/>
          <p:cNvSpPr txBox="1"/>
          <p:nvPr/>
        </p:nvSpPr>
        <p:spPr>
          <a:xfrm>
            <a:off x="1508760" y="2253996"/>
            <a:ext cx="1188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Sem. 3-4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 txBox="1"/>
          <p:nvPr/>
        </p:nvSpPr>
        <p:spPr>
          <a:xfrm>
            <a:off x="2834640" y="2253996"/>
            <a:ext cx="8595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Contratos de interfaces + esqueleto Clean Architecture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2"/>
          <p:cNvSpPr/>
          <p:nvPr/>
        </p:nvSpPr>
        <p:spPr>
          <a:xfrm>
            <a:off x="548640" y="2816352"/>
            <a:ext cx="110642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2"/>
          <p:cNvSpPr/>
          <p:nvPr/>
        </p:nvSpPr>
        <p:spPr>
          <a:xfrm>
            <a:off x="685800" y="2907792"/>
            <a:ext cx="640080" cy="365760"/>
          </a:xfrm>
          <a:prstGeom prst="roundRect">
            <a:avLst>
              <a:gd fmla="val 15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2"/>
          <p:cNvSpPr txBox="1"/>
          <p:nvPr/>
        </p:nvSpPr>
        <p:spPr>
          <a:xfrm>
            <a:off x="685800" y="2907792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2"/>
          <p:cNvSpPr txBox="1"/>
          <p:nvPr/>
        </p:nvSpPr>
        <p:spPr>
          <a:xfrm>
            <a:off x="1508760" y="2816352"/>
            <a:ext cx="1188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Sem. 5-6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 txBox="1"/>
          <p:nvPr/>
        </p:nvSpPr>
        <p:spPr>
          <a:xfrm>
            <a:off x="2834640" y="2816352"/>
            <a:ext cx="8595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Ingesta documental: carga BL + extracción 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548640" y="3378708"/>
            <a:ext cx="11064240" cy="548640"/>
          </a:xfrm>
          <a:prstGeom prst="rect">
            <a:avLst/>
          </a:prstGeom>
          <a:solidFill>
            <a:srgbClr val="E9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2"/>
          <p:cNvSpPr/>
          <p:nvPr/>
        </p:nvSpPr>
        <p:spPr>
          <a:xfrm>
            <a:off x="685800" y="3470148"/>
            <a:ext cx="640080" cy="365760"/>
          </a:xfrm>
          <a:prstGeom prst="roundRect">
            <a:avLst>
              <a:gd fmla="val 15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2"/>
          <p:cNvSpPr txBox="1"/>
          <p:nvPr/>
        </p:nvSpPr>
        <p:spPr>
          <a:xfrm>
            <a:off x="685800" y="3470148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2"/>
          <p:cNvSpPr txBox="1"/>
          <p:nvPr/>
        </p:nvSpPr>
        <p:spPr>
          <a:xfrm>
            <a:off x="1508760" y="3378708"/>
            <a:ext cx="1188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Sem. 7-8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 txBox="1"/>
          <p:nvPr/>
        </p:nvSpPr>
        <p:spPr>
          <a:xfrm>
            <a:off x="2834640" y="3378708"/>
            <a:ext cx="8595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Strategy dual: Scraping + Mock + Circuit Breaker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548640" y="3941064"/>
            <a:ext cx="110642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685800" y="4032504"/>
            <a:ext cx="640080" cy="365760"/>
          </a:xfrm>
          <a:prstGeom prst="roundRect">
            <a:avLst>
              <a:gd fmla="val 15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2"/>
          <p:cNvSpPr txBox="1"/>
          <p:nvPr/>
        </p:nvSpPr>
        <p:spPr>
          <a:xfrm>
            <a:off x="685800" y="403250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2"/>
          <p:cNvSpPr txBox="1"/>
          <p:nvPr/>
        </p:nvSpPr>
        <p:spPr>
          <a:xfrm>
            <a:off x="1508760" y="3941064"/>
            <a:ext cx="1188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Sem. 9-10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2"/>
          <p:cNvSpPr txBox="1"/>
          <p:nvPr/>
        </p:nvSpPr>
        <p:spPr>
          <a:xfrm>
            <a:off x="2834640" y="3941064"/>
            <a:ext cx="8595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Motor de riesgo + notificaciones en tiempo real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548640" y="4503420"/>
            <a:ext cx="11064240" cy="548640"/>
          </a:xfrm>
          <a:prstGeom prst="rect">
            <a:avLst/>
          </a:prstGeom>
          <a:solidFill>
            <a:srgbClr val="E9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685800" y="4594860"/>
            <a:ext cx="640080" cy="365760"/>
          </a:xfrm>
          <a:prstGeom prst="roundRect">
            <a:avLst>
              <a:gd fmla="val 15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2"/>
          <p:cNvSpPr txBox="1"/>
          <p:nvPr/>
        </p:nvSpPr>
        <p:spPr>
          <a:xfrm>
            <a:off x="685800" y="459486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"/>
          <p:cNvSpPr txBox="1"/>
          <p:nvPr/>
        </p:nvSpPr>
        <p:spPr>
          <a:xfrm>
            <a:off x="1508760" y="4503420"/>
            <a:ext cx="1188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Sem. 11-12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2"/>
          <p:cNvSpPr txBox="1"/>
          <p:nvPr/>
        </p:nvSpPr>
        <p:spPr>
          <a:xfrm>
            <a:off x="2834640" y="4503420"/>
            <a:ext cx="8595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Human-in-the-Loop + mensajería entre servicios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548640" y="5065776"/>
            <a:ext cx="110642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685800" y="5157216"/>
            <a:ext cx="640080" cy="365760"/>
          </a:xfrm>
          <a:prstGeom prst="roundRect">
            <a:avLst>
              <a:gd fmla="val 15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2"/>
          <p:cNvSpPr txBox="1"/>
          <p:nvPr/>
        </p:nvSpPr>
        <p:spPr>
          <a:xfrm>
            <a:off x="685800" y="5157216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 txBox="1"/>
          <p:nvPr/>
        </p:nvSpPr>
        <p:spPr>
          <a:xfrm>
            <a:off x="1508760" y="5065776"/>
            <a:ext cx="1188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Sem. 13-14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2"/>
          <p:cNvSpPr txBox="1"/>
          <p:nvPr/>
        </p:nvSpPr>
        <p:spPr>
          <a:xfrm>
            <a:off x="2834640" y="5065776"/>
            <a:ext cx="8595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Seguridad transversal (JWT/RBAC) + notif. externas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548640" y="5628132"/>
            <a:ext cx="11064240" cy="548640"/>
          </a:xfrm>
          <a:prstGeom prst="rect">
            <a:avLst/>
          </a:prstGeom>
          <a:solidFill>
            <a:srgbClr val="E9F1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685800" y="5719572"/>
            <a:ext cx="640080" cy="365760"/>
          </a:xfrm>
          <a:prstGeom prst="roundRect">
            <a:avLst>
              <a:gd fmla="val 15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2"/>
          <p:cNvSpPr txBox="1"/>
          <p:nvPr/>
        </p:nvSpPr>
        <p:spPr>
          <a:xfrm>
            <a:off x="685800" y="5719572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2"/>
          <p:cNvSpPr txBox="1"/>
          <p:nvPr/>
        </p:nvSpPr>
        <p:spPr>
          <a:xfrm>
            <a:off x="1508760" y="5628132"/>
            <a:ext cx="1188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Sem. 15-16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2"/>
          <p:cNvSpPr txBox="1"/>
          <p:nvPr/>
        </p:nvSpPr>
        <p:spPr>
          <a:xfrm>
            <a:off x="2834640" y="5628132"/>
            <a:ext cx="8595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Pruebas integrales, documentación y cierre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2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PortIA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3"/>
          <p:cNvSpPr/>
          <p:nvPr/>
        </p:nvSpPr>
        <p:spPr>
          <a:xfrm>
            <a:off x="0" y="4937760"/>
            <a:ext cx="12188952" cy="1920240"/>
          </a:xfrm>
          <a:prstGeom prst="rect">
            <a:avLst/>
          </a:prstGeom>
          <a:solidFill>
            <a:srgbClr val="065A82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3"/>
          <p:cNvSpPr/>
          <p:nvPr/>
        </p:nvSpPr>
        <p:spPr>
          <a:xfrm>
            <a:off x="0" y="5394960"/>
            <a:ext cx="12188952" cy="1463040"/>
          </a:xfrm>
          <a:prstGeom prst="rect">
            <a:avLst/>
          </a:prstGeom>
          <a:solidFill>
            <a:srgbClr val="1C7293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3"/>
          <p:cNvSpPr txBox="1"/>
          <p:nvPr/>
        </p:nvSpPr>
        <p:spPr>
          <a:xfrm>
            <a:off x="731520" y="2560320"/>
            <a:ext cx="9144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Gracias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3"/>
          <p:cNvSpPr txBox="1"/>
          <p:nvPr/>
        </p:nvSpPr>
        <p:spPr>
          <a:xfrm>
            <a:off x="731520" y="35661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PortIA — Sistema de Gestión de Contenedores y Alertas de Multas Portuarias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2026-08-27T00:26:01Z</dcterms:created>
  <dc:creator>PptxGenJS</dc:creator>
</cp:coreProperties>
</file>